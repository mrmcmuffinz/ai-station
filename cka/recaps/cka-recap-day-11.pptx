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F5A3A7-B238-48ED-93CB-9EF99F57EE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A49E3D8-CBFE-4F77-A02D-5EBF5C0C23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C386868-9196-433F-9F53-895AA6470F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182833B-F559-46C4-B906-027D547192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0F01221-1F55-4423-9D82-8F1F15BB0A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442EB16-FBB0-4016-9911-D12FE25B19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73A6E81-9163-48F8-87D2-E95FA6B0F7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CE691F8-F3E1-4719-BC1E-F926FB43E64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31926FF-60F1-4137-A1B3-2A06AE170A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6104E94-9147-4FF3-8233-D662B1ECE2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A3D6118-3DFD-412E-9F19-B1BF6E7DB4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E467E89-6E48-405A-859E-1C4FB488A6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0BCC824-5269-455A-9AEA-15C581485D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1217DCA-B41B-4459-B20C-30936C1CD7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B5010AE-636F-48CC-9A75-0343FC9A85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EFA528C-801D-4D59-9F0F-86936FEF3A8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5549FA7-ECE4-4C9E-8459-CBECC27A09B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23C35BE-F841-4CA2-8004-B1163D99DD9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AD2028F-2C37-491F-978B-14182813FDD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3A835B7-5B6D-4559-9A5B-FF2DCB35F3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B3C8E4A-0E5F-4EB8-ABD9-49BC4CD7759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188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4156E7-EABA-4D53-A98B-8F4B3A7A7B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012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9140400" cy="5112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1" name="Picture 2" descr="image.png"/>
          <p:cNvPicPr/>
          <p:nvPr/>
        </p:nvPicPr>
        <p:blipFill>
          <a:blip r:embed="rId1"/>
          <a:stretch/>
        </p:blipFill>
        <p:spPr>
          <a:xfrm>
            <a:off x="3200400" y="365760"/>
            <a:ext cx="2739600" cy="2739600"/>
          </a:xfrm>
          <a:prstGeom prst="rect">
            <a:avLst/>
          </a:prstGeom>
          <a:ln w="0">
            <a:noFill/>
          </a:ln>
        </p:spPr>
      </p:pic>
      <p:sp>
        <p:nvSpPr>
          <p:cNvPr id="52" name="TextBox 3"/>
          <p:cNvSpPr/>
          <p:nvPr/>
        </p:nvSpPr>
        <p:spPr>
          <a:xfrm>
            <a:off x="457200" y="3200400"/>
            <a:ext cx="8226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0f4f8"/>
                </a:solidFill>
                <a:latin typeface="Calibri"/>
              </a:rPr>
              <a:t>CKA Daily Recap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3344400" y="3886200"/>
            <a:ext cx="245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4a9af5"/>
                </a:solidFill>
                <a:latin typeface="Calibri"/>
              </a:rPr>
              <a:t>Day 11</a:t>
            </a:r>
            <a:r>
              <a:rPr b="0" lang="en-US" sz="1400" spc="-1" strike="noStrike">
                <a:solidFill>
                  <a:srgbClr val="8b9db3"/>
                </a:solidFill>
                <a:latin typeface="Calibri"/>
              </a:rPr>
              <a:t>   |   April 22,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3945600" y="4663440"/>
            <a:ext cx="1251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b9db3"/>
                </a:solidFill>
                <a:latin typeface="Calibri"/>
              </a:rPr>
              <a:t>Abe's CKA Journey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4" descr="image.png"/>
          <p:cNvPicPr/>
          <p:nvPr/>
        </p:nvPicPr>
        <p:blipFill>
          <a:blip r:embed="rId1"/>
          <a:stretch/>
        </p:blipFill>
        <p:spPr>
          <a:xfrm>
            <a:off x="7498080" y="457200"/>
            <a:ext cx="1642680" cy="1459440"/>
          </a:xfrm>
          <a:prstGeom prst="rect">
            <a:avLst/>
          </a:prstGeom>
          <a:ln w="0">
            <a:noFill/>
          </a:ln>
        </p:spPr>
      </p:pic>
      <p:sp>
        <p:nvSpPr>
          <p:cNvPr id="56" name="Rectangle 7"/>
          <p:cNvSpPr/>
          <p:nvPr/>
        </p:nvSpPr>
        <p:spPr>
          <a:xfrm>
            <a:off x="0" y="0"/>
            <a:ext cx="9140400" cy="5112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TextBox 14"/>
          <p:cNvSpPr/>
          <p:nvPr/>
        </p:nvSpPr>
        <p:spPr>
          <a:xfrm>
            <a:off x="1029960" y="228600"/>
            <a:ext cx="864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a9af5"/>
                </a:solidFill>
                <a:latin typeface="Consolas"/>
              </a:rPr>
              <a:t>CKA STUDY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15"/>
          <p:cNvSpPr/>
          <p:nvPr/>
        </p:nvSpPr>
        <p:spPr>
          <a:xfrm>
            <a:off x="6026760" y="182880"/>
            <a:ext cx="1661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0f4f8"/>
                </a:solidFill>
                <a:latin typeface="Calibri"/>
              </a:rPr>
              <a:t>Day 11</a:t>
            </a:r>
            <a:r>
              <a:rPr b="0" lang="en-US" sz="1000" spc="-1" strike="noStrike">
                <a:solidFill>
                  <a:srgbClr val="8b9db3"/>
                </a:solidFill>
                <a:latin typeface="Calibri"/>
              </a:rPr>
              <a:t> |  April 22, 2026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16"/>
          <p:cNvSpPr/>
          <p:nvPr/>
        </p:nvSpPr>
        <p:spPr>
          <a:xfrm>
            <a:off x="548640" y="685800"/>
            <a:ext cx="77688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600" spc="-1" strike="noStrike">
                <a:solidFill>
                  <a:srgbClr val="f0f4f8"/>
                </a:solidFill>
                <a:latin typeface="Calibri"/>
              </a:rPr>
              <a:t>Kubernetes Service Networking, DNS, Ingress, and Gateway API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Rectangle 8"/>
          <p:cNvSpPr/>
          <p:nvPr/>
        </p:nvSpPr>
        <p:spPr>
          <a:xfrm>
            <a:off x="548640" y="1201320"/>
            <a:ext cx="3196800" cy="1476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TextBox 17"/>
          <p:cNvSpPr/>
          <p:nvPr/>
        </p:nvSpPr>
        <p:spPr>
          <a:xfrm>
            <a:off x="548640" y="1645920"/>
            <a:ext cx="72212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Box 18"/>
          <p:cNvSpPr/>
          <p:nvPr/>
        </p:nvSpPr>
        <p:spPr>
          <a:xfrm>
            <a:off x="1875240" y="4709160"/>
            <a:ext cx="191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db3"/>
                </a:solidFill>
                <a:latin typeface="Calibri"/>
              </a:rPr>
              <a:t>Abe's CKA Journey  ·  Daily Recap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Box 19"/>
          <p:cNvSpPr/>
          <p:nvPr/>
        </p:nvSpPr>
        <p:spPr>
          <a:xfrm>
            <a:off x="476640" y="1429920"/>
            <a:ext cx="7558200" cy="32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How do ClusterIP services route traffic to pods if they don't live on any node?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ClusterIP addresses are virtual, they exist only as iptables or IPVS rules managed by kube-proxy on every node. When a pod sends traffic to a service IP, the kernel intercepts it and rewrites the destination to one of the backing pod IPs. No actual interface or namespace holds the service IP.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How does Kubernetes DNS resolve service names, and what format do the records follow?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CoreDNS runs as a Deployment in kube-system and watches the API server for new services. Each service gets an A record at &lt;service&gt;.&lt;namespace&gt;.svc.cluster.local. Pods within the same namespace can use just the service name, while cross-namespace calls need &lt;service&gt;.&lt;namespace&gt;. Pod DNS records also exist but are rarely used directly.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What role does an Ingress resource play compared to a Service?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A Service handles L4 routing (IP and port), while an Ingress operates at L7 (HTTP/HTTPS), providing host-based and path-based routing, TLS termination, and centralized entry to multiple backend services through a single external endpoint. An Ingress resource does nothing on its own; it requires an Ingress Controller (like NGINX) deployed in the cluster to read the rules and configure the actual proxy.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How does the Gateway API improve on Ingress?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Gateway API splits responsibilities across three resources: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lvl="2" marL="648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GatewayClass (infrastructure provider),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lvl="2" marL="648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Gateway (cluster operator configures listeners and ports),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lvl="2" marL="648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and HTTPRoute (developers define routing rules).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This separation of concerns gives operators and developers scoped control without sharing a single resource. It also natively supports TCP/UDP, traffic weighting, and header-based matching that Ingress only handled through vendor-specific annotations.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1"/>
          <p:cNvSpPr/>
          <p:nvPr/>
        </p:nvSpPr>
        <p:spPr>
          <a:xfrm>
            <a:off x="0" y="0"/>
            <a:ext cx="9140400" cy="5112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3058920" y="1371600"/>
            <a:ext cx="30265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0f4f8"/>
                </a:solidFill>
                <a:latin typeface="Calibri"/>
              </a:rPr>
              <a:t>That's Day 11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3342600" y="2194560"/>
            <a:ext cx="2456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8b9db3"/>
                </a:solidFill>
                <a:latin typeface="Calibri"/>
              </a:rPr>
              <a:t>See you in the next one.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Rectangle 5"/>
          <p:cNvSpPr/>
          <p:nvPr/>
        </p:nvSpPr>
        <p:spPr>
          <a:xfrm>
            <a:off x="3200400" y="2880360"/>
            <a:ext cx="2739600" cy="1476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6"/>
          <p:cNvSpPr/>
          <p:nvPr/>
        </p:nvSpPr>
        <p:spPr>
          <a:xfrm>
            <a:off x="3738960" y="3154680"/>
            <a:ext cx="16657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4a9af5"/>
                </a:solidFill>
                <a:latin typeface="Consolas"/>
              </a:rPr>
              <a:t>mrmcmuffinz.dev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7"/>
          <p:cNvSpPr/>
          <p:nvPr/>
        </p:nvSpPr>
        <p:spPr>
          <a:xfrm>
            <a:off x="3612600" y="4663440"/>
            <a:ext cx="191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db3"/>
                </a:solidFill>
                <a:latin typeface="Calibri"/>
              </a:rPr>
              <a:t>Abe's CKA Journey  ·  Daily Recap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Picture 3" descr="image.png"/>
          <p:cNvPicPr/>
          <p:nvPr/>
        </p:nvPicPr>
        <p:blipFill>
          <a:blip r:embed="rId1"/>
          <a:stretch/>
        </p:blipFill>
        <p:spPr>
          <a:xfrm>
            <a:off x="0" y="3657600"/>
            <a:ext cx="1642680" cy="145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2026-04-22T17:49:13Z</dcterms:modified>
  <cp:revision>32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