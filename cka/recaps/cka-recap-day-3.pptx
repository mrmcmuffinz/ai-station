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7C244B5-FC4B-4EEA-AFC5-AF13CB95DA5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EB282F9-81C7-41C4-A4CF-E2071948E1E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9043A0D-43B4-4319-A87C-108C1198B756}"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EFA9A6B-BC1A-4AE1-9276-3C321A59DEFA}"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F80D2A28-266E-411F-89ED-7FFCDD24AD05}"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F523F70C-8A60-4921-A8F1-0533AF43863A}"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2AC17039-CA97-47AD-899C-72D76FDC94DF}"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9DB138EA-89A0-4CC9-9B49-4203210811C2}"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FE73185B-E6BC-4400-9466-217FDB512348}"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4ACAC4D-1836-46A4-950E-92F9B487329D}"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66CA6A37-0DC9-4D05-9503-FEBAA75A8B34}"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2A0AFA5-75CC-41D7-BCAD-5C3A26D619B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4CF6820-87C3-4D88-9DE2-52AA4B134EC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B091484-6D6E-4864-B2B6-169C79FF6E6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99642FD-2F1B-4355-8E30-4A9BAD2919B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D28617E-96A0-41DD-B5B2-FA24C030424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73D75B8-D4CF-479B-8112-9763D0E972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C490289-E025-42F7-8934-B9F69934A4F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6BBF82A-6A8B-4127-9267-591AA03ED68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D74AB3D-EC8C-49A5-BBC3-7CBA30AC8CB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C19E0A5-EFB8-41BE-8B10-AF97D04F1D4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28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5184BBE-4924-41E6-BBE6-F6A1CC5A0A5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50" name="Rectangle 1"/>
          <p:cNvSpPr/>
          <p:nvPr/>
        </p:nvSpPr>
        <p:spPr>
          <a:xfrm>
            <a:off x="0" y="0"/>
            <a:ext cx="9142560" cy="5328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pc="-1" strike="noStrike">
              <a:solidFill>
                <a:schemeClr val="lt1"/>
              </a:solidFill>
              <a:latin typeface="Calibri"/>
            </a:endParaRPr>
          </a:p>
        </p:txBody>
      </p:sp>
      <p:pic>
        <p:nvPicPr>
          <p:cNvPr id="51" name="Picture 2" descr="image.png"/>
          <p:cNvPicPr/>
          <p:nvPr/>
        </p:nvPicPr>
        <p:blipFill>
          <a:blip r:embed="rId1"/>
          <a:stretch/>
        </p:blipFill>
        <p:spPr>
          <a:xfrm>
            <a:off x="3200400" y="365760"/>
            <a:ext cx="2741760" cy="2741760"/>
          </a:xfrm>
          <a:prstGeom prst="rect">
            <a:avLst/>
          </a:prstGeom>
          <a:ln w="0">
            <a:noFill/>
          </a:ln>
        </p:spPr>
      </p:pic>
      <p:sp>
        <p:nvSpPr>
          <p:cNvPr id="52" name="TextBox 3"/>
          <p:cNvSpPr/>
          <p:nvPr/>
        </p:nvSpPr>
        <p:spPr>
          <a:xfrm>
            <a:off x="457200" y="3200400"/>
            <a:ext cx="822816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3600" spc="-1" strike="noStrike">
                <a:solidFill>
                  <a:srgbClr val="f0f4f8"/>
                </a:solidFill>
                <a:latin typeface="Calibri"/>
              </a:rPr>
              <a:t>CKA Daily Recap</a:t>
            </a:r>
            <a:endParaRPr b="0" lang="en-US" sz="3600" spc="-1" strike="noStrike">
              <a:solidFill>
                <a:srgbClr val="ffffff"/>
              </a:solidFill>
              <a:latin typeface="Arial"/>
            </a:endParaRPr>
          </a:p>
        </p:txBody>
      </p:sp>
      <p:sp>
        <p:nvSpPr>
          <p:cNvPr id="53" name="TextBox 4"/>
          <p:cNvSpPr/>
          <p:nvPr/>
        </p:nvSpPr>
        <p:spPr>
          <a:xfrm>
            <a:off x="3459960" y="3886200"/>
            <a:ext cx="222192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800" spc="-1" strike="noStrike">
                <a:solidFill>
                  <a:srgbClr val="4a9af5"/>
                </a:solidFill>
                <a:latin typeface="Calibri"/>
              </a:rPr>
              <a:t>Day 3</a:t>
            </a:r>
            <a:r>
              <a:rPr b="0" lang="en-US" sz="1400" spc="-1" strike="noStrike">
                <a:solidFill>
                  <a:srgbClr val="8b9db3"/>
                </a:solidFill>
                <a:latin typeface="Calibri"/>
              </a:rPr>
              <a:t>   |   April 8, 2026</a:t>
            </a:r>
            <a:endParaRPr b="0" lang="en-US" sz="1400" spc="-1" strike="noStrike">
              <a:solidFill>
                <a:srgbClr val="ffffff"/>
              </a:solidFill>
              <a:latin typeface="Arial"/>
            </a:endParaRPr>
          </a:p>
        </p:txBody>
      </p:sp>
      <p:sp>
        <p:nvSpPr>
          <p:cNvPr id="54" name="TextBox 5"/>
          <p:cNvSpPr/>
          <p:nvPr/>
        </p:nvSpPr>
        <p:spPr>
          <a:xfrm>
            <a:off x="3945600" y="4663440"/>
            <a:ext cx="125136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000" spc="-1" strike="noStrike">
                <a:solidFill>
                  <a:srgbClr val="8b9db3"/>
                </a:solidFill>
                <a:latin typeface="Calibri"/>
              </a:rPr>
              <a:t>Abe's CKA Journey</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55" name="Picture 1" descr="image.png"/>
          <p:cNvPicPr/>
          <p:nvPr/>
        </p:nvPicPr>
        <p:blipFill>
          <a:blip r:embed="rId1"/>
          <a:stretch/>
        </p:blipFill>
        <p:spPr>
          <a:xfrm>
            <a:off x="7498080" y="457200"/>
            <a:ext cx="1644840" cy="1461600"/>
          </a:xfrm>
          <a:prstGeom prst="rect">
            <a:avLst/>
          </a:prstGeom>
          <a:ln w="0">
            <a:noFill/>
          </a:ln>
        </p:spPr>
      </p:pic>
      <p:sp>
        <p:nvSpPr>
          <p:cNvPr id="56" name="Rectangle 2"/>
          <p:cNvSpPr/>
          <p:nvPr/>
        </p:nvSpPr>
        <p:spPr>
          <a:xfrm>
            <a:off x="0" y="0"/>
            <a:ext cx="9142560" cy="5328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nSpc>
                <a:spcPct val="100000"/>
              </a:lnSpc>
            </a:pPr>
            <a:endParaRPr b="0" lang="en-US" sz="1800" spc="-1" strike="noStrike">
              <a:solidFill>
                <a:schemeClr val="lt1"/>
              </a:solidFill>
              <a:latin typeface="Calibri"/>
            </a:endParaRPr>
          </a:p>
        </p:txBody>
      </p:sp>
      <p:sp>
        <p:nvSpPr>
          <p:cNvPr id="57" name="TextBox 3"/>
          <p:cNvSpPr/>
          <p:nvPr/>
        </p:nvSpPr>
        <p:spPr>
          <a:xfrm>
            <a:off x="1029960" y="228600"/>
            <a:ext cx="864360" cy="242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000" spc="-1" strike="noStrike">
                <a:solidFill>
                  <a:srgbClr val="4a9af5"/>
                </a:solidFill>
                <a:latin typeface="Consolas"/>
              </a:rPr>
              <a:t>CKA STUDY</a:t>
            </a:r>
            <a:endParaRPr b="0" lang="en-US" sz="1000" spc="-1" strike="noStrike">
              <a:solidFill>
                <a:srgbClr val="ffffff"/>
              </a:solidFill>
              <a:latin typeface="Arial"/>
            </a:endParaRPr>
          </a:p>
        </p:txBody>
      </p:sp>
      <p:sp>
        <p:nvSpPr>
          <p:cNvPr id="58" name="TextBox 4"/>
          <p:cNvSpPr/>
          <p:nvPr/>
        </p:nvSpPr>
        <p:spPr>
          <a:xfrm>
            <a:off x="6089400" y="182880"/>
            <a:ext cx="1536120" cy="27252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1" lang="en-US" sz="1200" spc="-1" strike="noStrike">
                <a:solidFill>
                  <a:srgbClr val="f0f4f8"/>
                </a:solidFill>
                <a:latin typeface="Calibri"/>
              </a:rPr>
              <a:t>Day 2</a:t>
            </a:r>
            <a:r>
              <a:rPr b="0" lang="en-US" sz="1000" spc="-1" strike="noStrike">
                <a:solidFill>
                  <a:srgbClr val="8b9db3"/>
                </a:solidFill>
                <a:latin typeface="Calibri"/>
              </a:rPr>
              <a:t>  |  April 8, 2026</a:t>
            </a:r>
            <a:endParaRPr b="0" lang="en-US" sz="1000" spc="-1" strike="noStrike">
              <a:solidFill>
                <a:srgbClr val="ffffff"/>
              </a:solidFill>
              <a:latin typeface="Arial"/>
            </a:endParaRPr>
          </a:p>
        </p:txBody>
      </p:sp>
      <p:sp>
        <p:nvSpPr>
          <p:cNvPr id="59" name="TextBox 5"/>
          <p:cNvSpPr/>
          <p:nvPr/>
        </p:nvSpPr>
        <p:spPr>
          <a:xfrm>
            <a:off x="548640" y="685800"/>
            <a:ext cx="7770960" cy="72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100" spc="-1" strike="noStrike">
                <a:solidFill>
                  <a:srgbClr val="f0f4f8"/>
                </a:solidFill>
                <a:latin typeface="Calibri"/>
              </a:rPr>
              <a:t>Kubernetes Services, Namespaces and kubectl Fundamentals</a:t>
            </a:r>
            <a:endParaRPr b="0" lang="en-US" sz="2100" spc="-1" strike="noStrike">
              <a:solidFill>
                <a:srgbClr val="ffffff"/>
              </a:solidFill>
              <a:latin typeface="Arial"/>
            </a:endParaRPr>
          </a:p>
        </p:txBody>
      </p:sp>
      <p:sp>
        <p:nvSpPr>
          <p:cNvPr id="60" name="Rectangle 6"/>
          <p:cNvSpPr/>
          <p:nvPr/>
        </p:nvSpPr>
        <p:spPr>
          <a:xfrm>
            <a:off x="548640" y="1417320"/>
            <a:ext cx="3198960" cy="1692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nSpc>
                <a:spcPct val="100000"/>
              </a:lnSpc>
            </a:pPr>
            <a:endParaRPr b="0" lang="en-US" sz="1800" spc="-1" strike="noStrike">
              <a:solidFill>
                <a:schemeClr val="lt1"/>
              </a:solidFill>
              <a:latin typeface="Calibri"/>
            </a:endParaRPr>
          </a:p>
        </p:txBody>
      </p:sp>
      <p:sp>
        <p:nvSpPr>
          <p:cNvPr id="61" name="TextBox 7"/>
          <p:cNvSpPr/>
          <p:nvPr/>
        </p:nvSpPr>
        <p:spPr>
          <a:xfrm>
            <a:off x="548640" y="1645920"/>
            <a:ext cx="72234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200" spc="-1" strike="noStrike">
              <a:solidFill>
                <a:srgbClr val="ffffff"/>
              </a:solidFill>
              <a:latin typeface="Arial"/>
            </a:endParaRPr>
          </a:p>
          <a:p>
            <a:pPr defTabSz="457200">
              <a:lnSpc>
                <a:spcPct val="100000"/>
              </a:lnSpc>
            </a:pPr>
            <a:endParaRPr b="0" lang="en-US" sz="1200" spc="-1" strike="noStrike">
              <a:solidFill>
                <a:srgbClr val="ffffff"/>
              </a:solidFill>
              <a:latin typeface="Arial"/>
            </a:endParaRPr>
          </a:p>
        </p:txBody>
      </p:sp>
      <p:sp>
        <p:nvSpPr>
          <p:cNvPr id="62" name="TextBox 8"/>
          <p:cNvSpPr/>
          <p:nvPr/>
        </p:nvSpPr>
        <p:spPr>
          <a:xfrm>
            <a:off x="1875240" y="4709160"/>
            <a:ext cx="191736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sp>
        <p:nvSpPr>
          <p:cNvPr id="63" name="TextBox 12"/>
          <p:cNvSpPr/>
          <p:nvPr/>
        </p:nvSpPr>
        <p:spPr>
          <a:xfrm>
            <a:off x="440640" y="1537920"/>
            <a:ext cx="7560360" cy="24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ffffff"/>
                </a:solidFill>
                <a:latin typeface="Arial"/>
              </a:rPr>
              <a:t>What are the three Kubernetes service types?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A ClusterIP service is for internal use only, think of pod to pod communication.</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A NodePort service extends the cluster ip service functionality to expose a svc via node IP and </a:t>
            </a:r>
            <a:r>
              <a:rPr b="0" lang="en-US" sz="1100" spc="-1" strike="noStrike">
                <a:solidFill>
                  <a:srgbClr val="ffffff"/>
                </a:solidFill>
                <a:latin typeface="Arial"/>
              </a:rPr>
              <a:t>port.</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A LoadBalancer service extends the prior further with an external IP address.</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are Kubernetes namespaces used for?</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Kubernetes namespaces are logical partitioning of cluster resources for isolation, resource </a:t>
            </a:r>
            <a:r>
              <a:rPr b="0" lang="en-US" sz="1100" spc="-1" strike="noStrike">
                <a:solidFill>
                  <a:srgbClr val="ffffff"/>
                </a:solidFill>
                <a:latin typeface="Arial"/>
              </a:rPr>
              <a:t>quotas, and access control scoping.</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is the difference between imperative and declarative kubectl usage?</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Imperative commands are fast and good for one-off tasks.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While declarative YAML is repeatable and version-controlled, however it is better suited for </a:t>
            </a:r>
            <a:r>
              <a:rPr b="0" lang="en-US" sz="1100" spc="-1" strike="noStrike">
                <a:solidFill>
                  <a:srgbClr val="ffffff"/>
                </a:solidFill>
                <a:latin typeface="Arial"/>
              </a:rPr>
              <a:t>production use cases.</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is the --dry-run=client -o yaml pattern?</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It is a kubectl option to generate a YAML skeleton without applying it, which you can redirect to </a:t>
            </a:r>
            <a:r>
              <a:rPr b="0" lang="en-US" sz="1100" spc="-1" strike="noStrike">
                <a:solidFill>
                  <a:srgbClr val="ffffff"/>
                </a:solidFill>
                <a:latin typeface="Arial"/>
              </a:rPr>
              <a:t>a file, edit, and then apply. Essential an exam speed technique.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64" name="Picture 4" descr="image.png"/>
          <p:cNvPicPr/>
          <p:nvPr/>
        </p:nvPicPr>
        <p:blipFill>
          <a:blip r:embed="rId1"/>
          <a:stretch/>
        </p:blipFill>
        <p:spPr>
          <a:xfrm>
            <a:off x="7498080" y="457200"/>
            <a:ext cx="1644840" cy="1461600"/>
          </a:xfrm>
          <a:prstGeom prst="rect">
            <a:avLst/>
          </a:prstGeom>
          <a:ln w="0">
            <a:noFill/>
          </a:ln>
        </p:spPr>
      </p:pic>
      <p:sp>
        <p:nvSpPr>
          <p:cNvPr id="65" name="Rectangle 3"/>
          <p:cNvSpPr/>
          <p:nvPr/>
        </p:nvSpPr>
        <p:spPr>
          <a:xfrm>
            <a:off x="0" y="0"/>
            <a:ext cx="9142560" cy="5328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endParaRPr b="0" lang="en-US" sz="1800" spc="-1" strike="noStrike">
              <a:solidFill>
                <a:schemeClr val="lt1"/>
              </a:solidFill>
              <a:latin typeface="Calibri"/>
            </a:endParaRPr>
          </a:p>
        </p:txBody>
      </p:sp>
      <p:sp>
        <p:nvSpPr>
          <p:cNvPr id="66" name="TextBox 1"/>
          <p:cNvSpPr/>
          <p:nvPr/>
        </p:nvSpPr>
        <p:spPr>
          <a:xfrm>
            <a:off x="1029960" y="228600"/>
            <a:ext cx="864360" cy="242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000" spc="-1" strike="noStrike">
                <a:solidFill>
                  <a:srgbClr val="4a9af5"/>
                </a:solidFill>
                <a:latin typeface="Consolas"/>
              </a:rPr>
              <a:t>CKA STUDY</a:t>
            </a:r>
            <a:endParaRPr b="0" lang="en-US" sz="1000" spc="-1" strike="noStrike">
              <a:solidFill>
                <a:srgbClr val="ffffff"/>
              </a:solidFill>
              <a:latin typeface="Arial"/>
            </a:endParaRPr>
          </a:p>
        </p:txBody>
      </p:sp>
      <p:sp>
        <p:nvSpPr>
          <p:cNvPr id="67" name="TextBox 2"/>
          <p:cNvSpPr/>
          <p:nvPr/>
        </p:nvSpPr>
        <p:spPr>
          <a:xfrm>
            <a:off x="6089400" y="182880"/>
            <a:ext cx="1536120" cy="27252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1" lang="en-US" sz="1200" spc="-1" strike="noStrike">
                <a:solidFill>
                  <a:srgbClr val="f0f4f8"/>
                </a:solidFill>
                <a:latin typeface="Calibri"/>
              </a:rPr>
              <a:t>Day 2</a:t>
            </a:r>
            <a:r>
              <a:rPr b="0" lang="en-US" sz="1000" spc="-1" strike="noStrike">
                <a:solidFill>
                  <a:srgbClr val="8b9db3"/>
                </a:solidFill>
                <a:latin typeface="Calibri"/>
              </a:rPr>
              <a:t>  |  April 8, 2026</a:t>
            </a:r>
            <a:endParaRPr b="0" lang="en-US" sz="1000" spc="-1" strike="noStrike">
              <a:solidFill>
                <a:srgbClr val="ffffff"/>
              </a:solidFill>
              <a:latin typeface="Arial"/>
            </a:endParaRPr>
          </a:p>
        </p:txBody>
      </p:sp>
      <p:sp>
        <p:nvSpPr>
          <p:cNvPr id="68" name="TextBox 9"/>
          <p:cNvSpPr/>
          <p:nvPr/>
        </p:nvSpPr>
        <p:spPr>
          <a:xfrm>
            <a:off x="548640" y="685800"/>
            <a:ext cx="7770960" cy="72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1191"/>
              </a:spcBef>
              <a:spcAft>
                <a:spcPts val="992"/>
              </a:spcAft>
            </a:pPr>
            <a:r>
              <a:rPr b="1" lang="en-US" sz="2100" spc="-1" strike="noStrike">
                <a:solidFill>
                  <a:srgbClr val="f0f4f8"/>
                </a:solidFill>
                <a:latin typeface="Calibri"/>
              </a:rPr>
              <a:t>Scheduling, Labels, Selectors, and Node Placement Strategies</a:t>
            </a:r>
            <a:endParaRPr b="0" lang="en-US" sz="2100" spc="-1" strike="noStrike">
              <a:solidFill>
                <a:srgbClr val="ffffff"/>
              </a:solidFill>
              <a:latin typeface="Arial"/>
            </a:endParaRPr>
          </a:p>
        </p:txBody>
      </p:sp>
      <p:sp>
        <p:nvSpPr>
          <p:cNvPr id="69" name="Rectangle 4"/>
          <p:cNvSpPr/>
          <p:nvPr/>
        </p:nvSpPr>
        <p:spPr>
          <a:xfrm>
            <a:off x="548640" y="1417320"/>
            <a:ext cx="3198960" cy="1692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endParaRPr b="0" lang="en-US" sz="1800" spc="-1" strike="noStrike">
              <a:solidFill>
                <a:schemeClr val="lt1"/>
              </a:solidFill>
              <a:latin typeface="Calibri"/>
            </a:endParaRPr>
          </a:p>
        </p:txBody>
      </p:sp>
      <p:sp>
        <p:nvSpPr>
          <p:cNvPr id="70" name="TextBox 10"/>
          <p:cNvSpPr/>
          <p:nvPr/>
        </p:nvSpPr>
        <p:spPr>
          <a:xfrm>
            <a:off x="548640" y="1645920"/>
            <a:ext cx="72234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200" spc="-1" strike="noStrike">
              <a:solidFill>
                <a:srgbClr val="ffffff"/>
              </a:solidFill>
              <a:latin typeface="Arial"/>
            </a:endParaRPr>
          </a:p>
          <a:p>
            <a:pPr defTabSz="457200">
              <a:lnSpc>
                <a:spcPct val="100000"/>
              </a:lnSpc>
            </a:pPr>
            <a:endParaRPr b="0" lang="en-US" sz="1200" spc="-1" strike="noStrike">
              <a:solidFill>
                <a:srgbClr val="ffffff"/>
              </a:solidFill>
              <a:latin typeface="Arial"/>
            </a:endParaRPr>
          </a:p>
        </p:txBody>
      </p:sp>
      <p:sp>
        <p:nvSpPr>
          <p:cNvPr id="71" name="TextBox 11"/>
          <p:cNvSpPr/>
          <p:nvPr/>
        </p:nvSpPr>
        <p:spPr>
          <a:xfrm>
            <a:off x="1875240" y="4709160"/>
            <a:ext cx="191736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sp>
        <p:nvSpPr>
          <p:cNvPr id="72" name="TextBox 13"/>
          <p:cNvSpPr/>
          <p:nvPr/>
        </p:nvSpPr>
        <p:spPr>
          <a:xfrm>
            <a:off x="476640" y="1465920"/>
            <a:ext cx="7560360" cy="2941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ffffff"/>
                </a:solidFill>
                <a:latin typeface="Arial"/>
              </a:rPr>
              <a:t>What is manual scheduling and when would you use it?</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Setting nodeName directly in the pod spec to bypass the scheduler entirely. Used when you need to force a pod onto a specific node without relying on scheduler logic.</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Why are labels and selectors important in Kubernetes?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Labels are the primary mechanism that connects Kubernetes resources to each other. Services use selectors to find pods, and ReplicaSets use them to track owned pods. Almost every resource in the cluster depends on label matching to function correctly.</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is the difference between labels and selectors?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Labels are key/value pairs attached to Kubernetes objects. Selectors are how resources query and find objects using those labels.</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is the difference between taints and tolerations?</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Taints are applied to nodes to repel pods. Tolerations are applied to pods to allow scheduling onto tainted nodes. Taints and tolerations control repulsion, not attraction.</a:t>
            </a:r>
            <a:endParaRPr b="0" lang="en-US" sz="1100" spc="-1" strike="noStrike">
              <a:solidFill>
                <a:srgbClr val="ffffff"/>
              </a:solidFill>
              <a:latin typeface="Arial"/>
            </a:endParaRPr>
          </a:p>
          <a:p>
            <a:pPr defTabSz="457200">
              <a:lnSpc>
                <a:spcPct val="100000"/>
              </a:lnSpc>
            </a:pPr>
            <a:r>
              <a:rPr b="0" lang="en-US" sz="1100" spc="-1" strike="noStrike">
                <a:solidFill>
                  <a:srgbClr val="ffffff"/>
                </a:solidFill>
                <a:latin typeface="Arial"/>
              </a:rPr>
              <a:t>What is the difference between node selectors and node affinity?</a:t>
            </a:r>
            <a:endParaRPr b="0" lang="en-US" sz="1100" spc="-1" strike="noStrike">
              <a:solidFill>
                <a:srgbClr val="ffffff"/>
              </a:solidFill>
              <a:latin typeface="Arial"/>
            </a:endParaRPr>
          </a:p>
          <a:p>
            <a:pPr lvl="1" marL="432000" indent="-216000" defTabSz="457200">
              <a:lnSpc>
                <a:spcPct val="100000"/>
              </a:lnSpc>
              <a:buClr>
                <a:srgbClr val="ffffff"/>
              </a:buClr>
              <a:buSzPct val="45000"/>
              <a:buFont typeface="Wingdings" charset="2"/>
              <a:buChar char=""/>
            </a:pPr>
            <a:r>
              <a:rPr b="0" lang="en-US" sz="1100" spc="-1" strike="noStrike">
                <a:solidFill>
                  <a:srgbClr val="ffffff"/>
                </a:solidFill>
                <a:latin typeface="Arial"/>
              </a:rPr>
              <a:t>Node selectors are a simple single-label equality match. Node affinity is more expressive, supporting operators like In, NotIn, Exists, and DoesNotExist, as well as hard and soft scheduling rules.</a:t>
            </a:r>
            <a:endParaRPr b="0" lang="en-US" sz="1100" spc="-1" strike="noStrike">
              <a:solidFill>
                <a:srgbClr val="ffffff"/>
              </a:solidFill>
              <a:latin typeface="Arial"/>
            </a:endParaRPr>
          </a:p>
          <a:p>
            <a:pPr defTabSz="457200">
              <a:lnSpc>
                <a:spcPct val="100000"/>
              </a:lnSpc>
            </a:pP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73" name="Rectangle 1"/>
          <p:cNvSpPr/>
          <p:nvPr/>
        </p:nvSpPr>
        <p:spPr>
          <a:xfrm>
            <a:off x="0" y="0"/>
            <a:ext cx="9142560" cy="5328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pc="-1" strike="noStrike">
              <a:solidFill>
                <a:schemeClr val="lt1"/>
              </a:solidFill>
              <a:latin typeface="Calibri"/>
            </a:endParaRPr>
          </a:p>
        </p:txBody>
      </p:sp>
      <p:sp>
        <p:nvSpPr>
          <p:cNvPr id="74" name="TextBox 3"/>
          <p:cNvSpPr/>
          <p:nvPr/>
        </p:nvSpPr>
        <p:spPr>
          <a:xfrm>
            <a:off x="3180960" y="1371600"/>
            <a:ext cx="2781000" cy="6076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3400" spc="-1" strike="noStrike">
                <a:solidFill>
                  <a:srgbClr val="f0f4f8"/>
                </a:solidFill>
                <a:latin typeface="Calibri"/>
              </a:rPr>
              <a:t>That's Day 3</a:t>
            </a:r>
            <a:endParaRPr b="0" lang="en-US" sz="3400" spc="-1" strike="noStrike">
              <a:solidFill>
                <a:srgbClr val="ffffff"/>
              </a:solidFill>
              <a:latin typeface="Arial"/>
            </a:endParaRPr>
          </a:p>
        </p:txBody>
      </p:sp>
      <p:sp>
        <p:nvSpPr>
          <p:cNvPr id="75" name="TextBox 4"/>
          <p:cNvSpPr/>
          <p:nvPr/>
        </p:nvSpPr>
        <p:spPr>
          <a:xfrm>
            <a:off x="3342600" y="2194560"/>
            <a:ext cx="2457000" cy="3333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600" spc="-1" strike="noStrike">
                <a:solidFill>
                  <a:srgbClr val="8b9db3"/>
                </a:solidFill>
                <a:latin typeface="Calibri"/>
              </a:rPr>
              <a:t>See you in the next one.</a:t>
            </a:r>
            <a:endParaRPr b="0" lang="en-US" sz="1600" spc="-1" strike="noStrike">
              <a:solidFill>
                <a:srgbClr val="ffffff"/>
              </a:solidFill>
              <a:latin typeface="Arial"/>
            </a:endParaRPr>
          </a:p>
        </p:txBody>
      </p:sp>
      <p:sp>
        <p:nvSpPr>
          <p:cNvPr id="76" name="Rectangle 5"/>
          <p:cNvSpPr/>
          <p:nvPr/>
        </p:nvSpPr>
        <p:spPr>
          <a:xfrm>
            <a:off x="3200400" y="2880360"/>
            <a:ext cx="2741760" cy="16920"/>
          </a:xfrm>
          <a:prstGeom prst="rect">
            <a:avLst/>
          </a:prstGeom>
          <a:solidFill>
            <a:srgbClr val="326c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gn="ctr" defTabSz="457200">
              <a:lnSpc>
                <a:spcPct val="100000"/>
              </a:lnSpc>
            </a:pPr>
            <a:endParaRPr b="0" lang="en-US" sz="1800" spc="-1" strike="noStrike">
              <a:solidFill>
                <a:schemeClr val="lt1"/>
              </a:solidFill>
              <a:latin typeface="Calibri"/>
            </a:endParaRPr>
          </a:p>
        </p:txBody>
      </p:sp>
      <p:sp>
        <p:nvSpPr>
          <p:cNvPr id="77" name="TextBox 6"/>
          <p:cNvSpPr/>
          <p:nvPr/>
        </p:nvSpPr>
        <p:spPr>
          <a:xfrm>
            <a:off x="3738960" y="3154680"/>
            <a:ext cx="166680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4a9af5"/>
                </a:solidFill>
                <a:latin typeface="Consolas"/>
              </a:rPr>
              <a:t>mrmcmuffinz.dev</a:t>
            </a:r>
            <a:endParaRPr b="0" lang="en-US" sz="1300" spc="-1" strike="noStrike">
              <a:solidFill>
                <a:srgbClr val="ffffff"/>
              </a:solidFill>
              <a:latin typeface="Arial"/>
            </a:endParaRPr>
          </a:p>
        </p:txBody>
      </p:sp>
      <p:sp>
        <p:nvSpPr>
          <p:cNvPr id="78" name="TextBox 7"/>
          <p:cNvSpPr/>
          <p:nvPr/>
        </p:nvSpPr>
        <p:spPr>
          <a:xfrm>
            <a:off x="3612600" y="4663440"/>
            <a:ext cx="19173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8b9db3"/>
                </a:solidFill>
                <a:latin typeface="Calibri"/>
              </a:rPr>
              <a:t>Abe's CKA Journey  ·  Daily Recap</a:t>
            </a:r>
            <a:endParaRPr b="0" lang="en-US" sz="900" spc="-1" strike="noStrike">
              <a:solidFill>
                <a:srgbClr val="ffffff"/>
              </a:solidFill>
              <a:latin typeface="Arial"/>
            </a:endParaRPr>
          </a:p>
        </p:txBody>
      </p:sp>
      <p:pic>
        <p:nvPicPr>
          <p:cNvPr id="79" name="Picture 3" descr="image.png"/>
          <p:cNvPicPr/>
          <p:nvPr/>
        </p:nvPicPr>
        <p:blipFill>
          <a:blip r:embed="rId1"/>
          <a:stretch/>
        </p:blipFill>
        <p:spPr>
          <a:xfrm>
            <a:off x="0" y="3657600"/>
            <a:ext cx="1644840" cy="1461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1363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2026-04-09T11:01:05Z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