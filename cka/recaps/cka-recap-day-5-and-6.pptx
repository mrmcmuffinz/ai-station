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98F4402-578E-4CB6-B46A-C9DC13C3AF8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5FEFF14C-4F84-4F4E-A5AC-3DF00B355C06}"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995A6678-FCD8-4300-83C9-60F40BC9D0D6}"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2C32A66-1D14-4784-89D9-5DC162AB3F0F}"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3F8F693-110D-4C8F-968E-03B0754D7AB7}"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832F45D3-6A6C-4D97-B99E-C5721CEE6E48}"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7C218B3D-6F64-4DB2-97F1-489194987FFD}"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C38784F8-B32D-41B8-B1CD-5BE218B31DAF}"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657FBA71-E377-4E49-883A-F84B6AF16855}"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1CBF646E-878D-41F1-B7DF-8B576DD261DC}"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1A4D8D95-46A2-4A92-8C2F-E4478632FDE5}"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A419E02-04EA-4051-931A-9F53D640A00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7DECF98-8BFF-4E30-AA71-D81E5DF81C0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838CD60-BD32-42EC-84FE-49A99AB0213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DDDFBF7-39A1-4E30-AAE3-B9DE702469F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6616CB3-800D-4707-866A-17630FE3C5D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64371FA-1E15-45DF-B2C7-51AA63B12BE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61CE4AC-E114-4A28-B8FC-7AF43290504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B677937-B9C5-4EF6-87B1-FA2440F374A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046FE1A-D267-4F7B-93AD-EAEF5A31109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EE05895-363D-4B73-B95E-D1D7FCE4FE1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5B3EFE2-D606-430F-94A2-938DD145FAD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50" name="Rectangle 1"/>
          <p:cNvSpPr/>
          <p:nvPr/>
        </p:nvSpPr>
        <p:spPr>
          <a:xfrm>
            <a:off x="0" y="0"/>
            <a:ext cx="9141840" cy="5256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pc="-1" strike="noStrike">
              <a:solidFill>
                <a:schemeClr val="lt1"/>
              </a:solidFill>
              <a:latin typeface="Calibri"/>
            </a:endParaRPr>
          </a:p>
        </p:txBody>
      </p:sp>
      <p:pic>
        <p:nvPicPr>
          <p:cNvPr id="51" name="Picture 2" descr="image.png"/>
          <p:cNvPicPr/>
          <p:nvPr/>
        </p:nvPicPr>
        <p:blipFill>
          <a:blip r:embed="rId1"/>
          <a:stretch/>
        </p:blipFill>
        <p:spPr>
          <a:xfrm>
            <a:off x="3200400" y="365760"/>
            <a:ext cx="2741040" cy="2741040"/>
          </a:xfrm>
          <a:prstGeom prst="rect">
            <a:avLst/>
          </a:prstGeom>
          <a:ln w="0">
            <a:noFill/>
          </a:ln>
        </p:spPr>
      </p:pic>
      <p:sp>
        <p:nvSpPr>
          <p:cNvPr id="52" name="TextBox 3"/>
          <p:cNvSpPr/>
          <p:nvPr/>
        </p:nvSpPr>
        <p:spPr>
          <a:xfrm>
            <a:off x="457200" y="3200400"/>
            <a:ext cx="822744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3600" spc="-1" strike="noStrike">
                <a:solidFill>
                  <a:srgbClr val="f0f4f8"/>
                </a:solidFill>
                <a:latin typeface="Calibri"/>
              </a:rPr>
              <a:t>CKA Daily Recap</a:t>
            </a:r>
            <a:endParaRPr b="0" lang="en-US" sz="3600" spc="-1" strike="noStrike">
              <a:solidFill>
                <a:srgbClr val="ffffff"/>
              </a:solidFill>
              <a:latin typeface="Arial"/>
            </a:endParaRPr>
          </a:p>
        </p:txBody>
      </p:sp>
      <p:sp>
        <p:nvSpPr>
          <p:cNvPr id="53" name="TextBox 4"/>
          <p:cNvSpPr/>
          <p:nvPr/>
        </p:nvSpPr>
        <p:spPr>
          <a:xfrm>
            <a:off x="3198600" y="3886200"/>
            <a:ext cx="27460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800" spc="-1" strike="noStrike">
                <a:solidFill>
                  <a:srgbClr val="4a9af5"/>
                </a:solidFill>
                <a:latin typeface="Calibri"/>
              </a:rPr>
              <a:t>Day 5 &amp; 6</a:t>
            </a:r>
            <a:r>
              <a:rPr b="0" lang="en-US" sz="1400" spc="-1" strike="noStrike">
                <a:solidFill>
                  <a:srgbClr val="8b9db3"/>
                </a:solidFill>
                <a:latin typeface="Calibri"/>
              </a:rPr>
              <a:t>   |   April 14, 2026</a:t>
            </a:r>
            <a:endParaRPr b="0" lang="en-US" sz="1400" spc="-1" strike="noStrike">
              <a:solidFill>
                <a:srgbClr val="ffffff"/>
              </a:solidFill>
              <a:latin typeface="Arial"/>
            </a:endParaRPr>
          </a:p>
        </p:txBody>
      </p:sp>
      <p:sp>
        <p:nvSpPr>
          <p:cNvPr id="54" name="TextBox 5"/>
          <p:cNvSpPr/>
          <p:nvPr/>
        </p:nvSpPr>
        <p:spPr>
          <a:xfrm>
            <a:off x="3945600" y="4663440"/>
            <a:ext cx="125100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000" spc="-1" strike="noStrike">
                <a:solidFill>
                  <a:srgbClr val="8b9db3"/>
                </a:solidFill>
                <a:latin typeface="Calibri"/>
              </a:rPr>
              <a:t>Abe's CKA Journey</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55" name="Picture 4" descr="image.png"/>
          <p:cNvPicPr/>
          <p:nvPr/>
        </p:nvPicPr>
        <p:blipFill>
          <a:blip r:embed="rId1"/>
          <a:stretch/>
        </p:blipFill>
        <p:spPr>
          <a:xfrm>
            <a:off x="7498080" y="457200"/>
            <a:ext cx="1644120" cy="1460880"/>
          </a:xfrm>
          <a:prstGeom prst="rect">
            <a:avLst/>
          </a:prstGeom>
          <a:ln w="0">
            <a:noFill/>
          </a:ln>
        </p:spPr>
      </p:pic>
      <p:sp>
        <p:nvSpPr>
          <p:cNvPr id="56" name="Rectangle 7"/>
          <p:cNvSpPr/>
          <p:nvPr/>
        </p:nvSpPr>
        <p:spPr>
          <a:xfrm>
            <a:off x="0" y="0"/>
            <a:ext cx="9141840" cy="5256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nSpc>
                <a:spcPct val="100000"/>
              </a:lnSpc>
            </a:pPr>
            <a:endParaRPr b="0" lang="en-US" sz="1800" spc="-1" strike="noStrike">
              <a:solidFill>
                <a:schemeClr val="lt1"/>
              </a:solidFill>
              <a:latin typeface="Calibri"/>
            </a:endParaRPr>
          </a:p>
        </p:txBody>
      </p:sp>
      <p:sp>
        <p:nvSpPr>
          <p:cNvPr id="57" name="TextBox 14"/>
          <p:cNvSpPr/>
          <p:nvPr/>
        </p:nvSpPr>
        <p:spPr>
          <a:xfrm>
            <a:off x="1029960" y="228600"/>
            <a:ext cx="864000" cy="242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000" spc="-1" strike="noStrike">
                <a:solidFill>
                  <a:srgbClr val="4a9af5"/>
                </a:solidFill>
                <a:latin typeface="Consolas"/>
              </a:rPr>
              <a:t>CKA STUDY</a:t>
            </a:r>
            <a:endParaRPr b="0" lang="en-US" sz="1000" spc="-1" strike="noStrike">
              <a:solidFill>
                <a:srgbClr val="ffffff"/>
              </a:solidFill>
              <a:latin typeface="Arial"/>
            </a:endParaRPr>
          </a:p>
        </p:txBody>
      </p:sp>
      <p:sp>
        <p:nvSpPr>
          <p:cNvPr id="58" name="TextBox 15"/>
          <p:cNvSpPr/>
          <p:nvPr/>
        </p:nvSpPr>
        <p:spPr>
          <a:xfrm>
            <a:off x="6053760" y="182880"/>
            <a:ext cx="1607760" cy="27252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1" lang="en-US" sz="1200" spc="-1" strike="noStrike">
                <a:solidFill>
                  <a:srgbClr val="f0f4f8"/>
                </a:solidFill>
                <a:latin typeface="Calibri"/>
              </a:rPr>
              <a:t>Day 5</a:t>
            </a:r>
            <a:r>
              <a:rPr b="0" lang="en-US" sz="1000" spc="-1" strike="noStrike">
                <a:solidFill>
                  <a:srgbClr val="8b9db3"/>
                </a:solidFill>
                <a:latin typeface="Calibri"/>
              </a:rPr>
              <a:t>  |  April 14, 2026</a:t>
            </a:r>
            <a:endParaRPr b="0" lang="en-US" sz="1000" spc="-1" strike="noStrike">
              <a:solidFill>
                <a:srgbClr val="ffffff"/>
              </a:solidFill>
              <a:latin typeface="Arial"/>
            </a:endParaRPr>
          </a:p>
        </p:txBody>
      </p:sp>
      <p:sp>
        <p:nvSpPr>
          <p:cNvPr id="59" name="TextBox 16"/>
          <p:cNvSpPr/>
          <p:nvPr/>
        </p:nvSpPr>
        <p:spPr>
          <a:xfrm>
            <a:off x="548640" y="685800"/>
            <a:ext cx="7770240" cy="40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1191"/>
              </a:spcBef>
              <a:spcAft>
                <a:spcPts val="992"/>
              </a:spcAft>
            </a:pPr>
            <a:r>
              <a:rPr b="1" lang="en-US" sz="2100" spc="-1" strike="noStrike">
                <a:solidFill>
                  <a:srgbClr val="f0f4f8"/>
                </a:solidFill>
                <a:latin typeface="Calibri"/>
              </a:rPr>
              <a:t>Application Lifecycle Management</a:t>
            </a:r>
            <a:endParaRPr b="0" lang="en-US" sz="2100" spc="-1" strike="noStrike">
              <a:solidFill>
                <a:srgbClr val="ffffff"/>
              </a:solidFill>
              <a:latin typeface="Arial"/>
            </a:endParaRPr>
          </a:p>
        </p:txBody>
      </p:sp>
      <p:sp>
        <p:nvSpPr>
          <p:cNvPr id="60" name="Rectangle 8"/>
          <p:cNvSpPr/>
          <p:nvPr/>
        </p:nvSpPr>
        <p:spPr>
          <a:xfrm>
            <a:off x="548640" y="1201320"/>
            <a:ext cx="3198240" cy="1620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nSpc>
                <a:spcPct val="100000"/>
              </a:lnSpc>
            </a:pPr>
            <a:endParaRPr b="0" lang="en-US" sz="1800" spc="-1" strike="noStrike">
              <a:solidFill>
                <a:schemeClr val="lt1"/>
              </a:solidFill>
              <a:latin typeface="Calibri"/>
            </a:endParaRPr>
          </a:p>
        </p:txBody>
      </p:sp>
      <p:sp>
        <p:nvSpPr>
          <p:cNvPr id="61" name="TextBox 17"/>
          <p:cNvSpPr/>
          <p:nvPr/>
        </p:nvSpPr>
        <p:spPr>
          <a:xfrm>
            <a:off x="548640" y="1645920"/>
            <a:ext cx="722268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200" spc="-1" strike="noStrike">
              <a:solidFill>
                <a:srgbClr val="ffffff"/>
              </a:solidFill>
              <a:latin typeface="Arial"/>
            </a:endParaRPr>
          </a:p>
          <a:p>
            <a:pPr defTabSz="457200">
              <a:lnSpc>
                <a:spcPct val="100000"/>
              </a:lnSpc>
            </a:pPr>
            <a:endParaRPr b="0" lang="en-US" sz="1200" spc="-1" strike="noStrike">
              <a:solidFill>
                <a:srgbClr val="ffffff"/>
              </a:solidFill>
              <a:latin typeface="Arial"/>
            </a:endParaRPr>
          </a:p>
        </p:txBody>
      </p:sp>
      <p:sp>
        <p:nvSpPr>
          <p:cNvPr id="62" name="TextBox 18"/>
          <p:cNvSpPr/>
          <p:nvPr/>
        </p:nvSpPr>
        <p:spPr>
          <a:xfrm>
            <a:off x="1875240" y="4709160"/>
            <a:ext cx="191700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sp>
        <p:nvSpPr>
          <p:cNvPr id="63" name="TextBox 19"/>
          <p:cNvSpPr/>
          <p:nvPr/>
        </p:nvSpPr>
        <p:spPr>
          <a:xfrm>
            <a:off x="476640" y="1429920"/>
            <a:ext cx="7559640" cy="3277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ffffff"/>
                </a:solidFill>
                <a:latin typeface="Arial"/>
              </a:rPr>
              <a:t>What deployment strategies does Kubernetes support, and how do rollbacks work?</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Kubernetes supports rolling updates as the default strategy, which gradually replaces old pods with new ones to maintain availability. You can roll back to a previous revision using kubectl rollout undo, and view rollout history with kubectl rollout history.</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How do you configure application behavior at runtime?</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Three primary methods: environment variables set directly in the pod spec, ConfigMaps for non-sensitive configuration data that can be mounted as volumes or injected as env vars, and Secrets for sensitive data like passwords or API keys. Secrets should be encrypted at rest in etcd for production clusters.</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are the multi-container pod patterns and when do you use them?</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The three main patterns are: sidecar (helper container that extends the main container's functionality, like a log forwarder), ambassador (proxy container that handles external connections), and adapter (transforms the main container's output to match expected formats).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For init containers, there are two types: traditional init containers that run to completion before app containers start, and sidecar init containers that start before app containers but continue running for the lifetime of the Pod.</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How does Kubernetes handle application scaling?</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Horizontal Pod Autoscaler (HPA) automatically scales the number of pod replicas based on CPU, memory, or custom metrics. Vertical Pod Autoscaler (VPA) adjusts CPU and memory requests/limits for existing pods. You can also manually scale deployments with kubectl scale. HPA requires the metrics-server to be installed in the cluster to collect resource usage data.</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64" name="Picture 1" descr="image.png"/>
          <p:cNvPicPr/>
          <p:nvPr/>
        </p:nvPicPr>
        <p:blipFill>
          <a:blip r:embed="rId1"/>
          <a:stretch/>
        </p:blipFill>
        <p:spPr>
          <a:xfrm>
            <a:off x="7498080" y="457200"/>
            <a:ext cx="1644120" cy="1460880"/>
          </a:xfrm>
          <a:prstGeom prst="rect">
            <a:avLst/>
          </a:prstGeom>
          <a:ln w="0">
            <a:noFill/>
          </a:ln>
        </p:spPr>
      </p:pic>
      <p:sp>
        <p:nvSpPr>
          <p:cNvPr id="65" name="Rectangle 2"/>
          <p:cNvSpPr/>
          <p:nvPr/>
        </p:nvSpPr>
        <p:spPr>
          <a:xfrm>
            <a:off x="0" y="0"/>
            <a:ext cx="9141840" cy="5256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endParaRPr b="0" lang="en-US" sz="1800" spc="-1" strike="noStrike">
              <a:solidFill>
                <a:schemeClr val="lt1"/>
              </a:solidFill>
              <a:latin typeface="Calibri"/>
            </a:endParaRPr>
          </a:p>
        </p:txBody>
      </p:sp>
      <p:sp>
        <p:nvSpPr>
          <p:cNvPr id="66" name="TextBox 1"/>
          <p:cNvSpPr/>
          <p:nvPr/>
        </p:nvSpPr>
        <p:spPr>
          <a:xfrm>
            <a:off x="1029960" y="228600"/>
            <a:ext cx="864000" cy="242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000" spc="-1" strike="noStrike">
                <a:solidFill>
                  <a:srgbClr val="4a9af5"/>
                </a:solidFill>
                <a:latin typeface="Consolas"/>
              </a:rPr>
              <a:t>CKA STUDY</a:t>
            </a:r>
            <a:endParaRPr b="0" lang="en-US" sz="1000" spc="-1" strike="noStrike">
              <a:solidFill>
                <a:srgbClr val="ffffff"/>
              </a:solidFill>
              <a:latin typeface="Arial"/>
            </a:endParaRPr>
          </a:p>
        </p:txBody>
      </p:sp>
      <p:sp>
        <p:nvSpPr>
          <p:cNvPr id="67" name="TextBox 2"/>
          <p:cNvSpPr/>
          <p:nvPr/>
        </p:nvSpPr>
        <p:spPr>
          <a:xfrm>
            <a:off x="6053760" y="182880"/>
            <a:ext cx="1607760" cy="27252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1" lang="en-US" sz="1200" spc="-1" strike="noStrike">
                <a:solidFill>
                  <a:srgbClr val="f0f4f8"/>
                </a:solidFill>
                <a:latin typeface="Calibri"/>
              </a:rPr>
              <a:t>Day 6</a:t>
            </a:r>
            <a:r>
              <a:rPr b="0" lang="en-US" sz="1000" spc="-1" strike="noStrike">
                <a:solidFill>
                  <a:srgbClr val="8b9db3"/>
                </a:solidFill>
                <a:latin typeface="Calibri"/>
              </a:rPr>
              <a:t>  |  April 14, 2026</a:t>
            </a:r>
            <a:endParaRPr b="0" lang="en-US" sz="1000" spc="-1" strike="noStrike">
              <a:solidFill>
                <a:srgbClr val="ffffff"/>
              </a:solidFill>
              <a:latin typeface="Arial"/>
            </a:endParaRPr>
          </a:p>
        </p:txBody>
      </p:sp>
      <p:sp>
        <p:nvSpPr>
          <p:cNvPr id="68" name="TextBox 8"/>
          <p:cNvSpPr/>
          <p:nvPr/>
        </p:nvSpPr>
        <p:spPr>
          <a:xfrm>
            <a:off x="548640" y="685800"/>
            <a:ext cx="777024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1191"/>
              </a:spcBef>
              <a:spcAft>
                <a:spcPts val="992"/>
              </a:spcAft>
            </a:pPr>
            <a:r>
              <a:rPr b="1" lang="en-US" sz="2100" spc="-1" strike="noStrike">
                <a:solidFill>
                  <a:srgbClr val="f0f4f8"/>
                </a:solidFill>
                <a:latin typeface="Calibri"/>
              </a:rPr>
              <a:t>Cluster Maintenance</a:t>
            </a:r>
            <a:endParaRPr b="0" lang="en-US" sz="2100" spc="-1" strike="noStrike">
              <a:solidFill>
                <a:srgbClr val="ffffff"/>
              </a:solidFill>
              <a:latin typeface="Arial"/>
            </a:endParaRPr>
          </a:p>
        </p:txBody>
      </p:sp>
      <p:sp>
        <p:nvSpPr>
          <p:cNvPr id="69" name="Rectangle 3"/>
          <p:cNvSpPr/>
          <p:nvPr/>
        </p:nvSpPr>
        <p:spPr>
          <a:xfrm>
            <a:off x="548640" y="1201320"/>
            <a:ext cx="3198240" cy="1620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endParaRPr b="0" lang="en-US" sz="1800" spc="-1" strike="noStrike">
              <a:solidFill>
                <a:schemeClr val="lt1"/>
              </a:solidFill>
              <a:latin typeface="Calibri"/>
            </a:endParaRPr>
          </a:p>
        </p:txBody>
      </p:sp>
      <p:sp>
        <p:nvSpPr>
          <p:cNvPr id="70" name="TextBox 9"/>
          <p:cNvSpPr/>
          <p:nvPr/>
        </p:nvSpPr>
        <p:spPr>
          <a:xfrm>
            <a:off x="548640" y="1645920"/>
            <a:ext cx="7222680" cy="455400"/>
          </a:xfrm>
          <a:prstGeom prst="rect">
            <a:avLst/>
          </a:prstGeom>
          <a:noFill/>
          <a:ln w="0">
            <a:noFill/>
          </a:ln>
        </p:spPr>
        <p:style>
          <a:lnRef idx="0"/>
          <a:fillRef idx="0"/>
          <a:effectRef idx="0"/>
          <a:fontRef idx="minor"/>
        </p:style>
        <p:txBody>
          <a:bodyPr lIns="90000" rIns="90000" tIns="45000" bIns="45000" anchor="t">
            <a:spAutoFit/>
          </a:bodyPr>
          <a:p>
            <a:endParaRPr b="0" lang="en-US" sz="1800" spc="-1" strike="noStrike">
              <a:solidFill>
                <a:srgbClr val="ffffff"/>
              </a:solidFill>
              <a:latin typeface="Arial"/>
            </a:endParaRPr>
          </a:p>
        </p:txBody>
      </p:sp>
      <p:sp>
        <p:nvSpPr>
          <p:cNvPr id="71" name="TextBox 10"/>
          <p:cNvSpPr/>
          <p:nvPr/>
        </p:nvSpPr>
        <p:spPr>
          <a:xfrm>
            <a:off x="1875240" y="4709160"/>
            <a:ext cx="191700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sp>
        <p:nvSpPr>
          <p:cNvPr id="72" name="TextBox 11"/>
          <p:cNvSpPr/>
          <p:nvPr/>
        </p:nvSpPr>
        <p:spPr>
          <a:xfrm>
            <a:off x="476640" y="1465920"/>
            <a:ext cx="7559640" cy="2773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ffffff"/>
                </a:solidFill>
                <a:latin typeface="Arial"/>
              </a:rPr>
              <a:t>How do you safely perform OS upgrades on cluster nodes?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Use kubectl drain &lt;node-name&gt; to safely evict all pods from a node before maintenance. This marks the node as unschedulable and gracefully terminates pods, rescheduling them on other nodes. After completing the OS upgrade, use kubectl uncordon &lt;node-name&gt; to mark the node as schedulable again. If you only want to prevent new pods without evicting existing ones, use kubectl cordon instead.</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How do you upgrade a Kubernetes cluster?</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Cluster upgrades follow a specific order: upgrade the control plane components first, then worker nodes. The process uses kubeadm: first upgrade the kubeadm tool itself, then run kubeadm upgrade plan to check available versions and compatibility, followed by kubeadm upgrade apply v1.x.x to upgrade the control plane. Worker nodes are upgraded one at a time by draining them, upgrading kubeadm and kubelet, then uncordoning. You can only upgrade one minor version at a time (e.g., 1.33 to 1.34, not 1.33 to 1.35).</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What's the backup and restore process for etcd?</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Use etcdctl snapshot save to create a backup of the etcd database, which stores all cluster state. To restore, first stop the API server, then use etcdctl snapshot restore to create a new data directory from the snapshot. After restore, update the etcd static pod manifest to point to the new data directory and restart the control plane components.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73" name="Rectangle 1"/>
          <p:cNvSpPr/>
          <p:nvPr/>
        </p:nvSpPr>
        <p:spPr>
          <a:xfrm>
            <a:off x="0" y="0"/>
            <a:ext cx="9141840" cy="5256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pc="-1" strike="noStrike">
              <a:solidFill>
                <a:schemeClr val="lt1"/>
              </a:solidFill>
              <a:latin typeface="Calibri"/>
            </a:endParaRPr>
          </a:p>
        </p:txBody>
      </p:sp>
      <p:sp>
        <p:nvSpPr>
          <p:cNvPr id="74" name="TextBox 3"/>
          <p:cNvSpPr/>
          <p:nvPr/>
        </p:nvSpPr>
        <p:spPr>
          <a:xfrm>
            <a:off x="2784240" y="1371600"/>
            <a:ext cx="3575160" cy="6076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3400" spc="-1" strike="noStrike">
                <a:solidFill>
                  <a:srgbClr val="f0f4f8"/>
                </a:solidFill>
                <a:latin typeface="Calibri"/>
              </a:rPr>
              <a:t>That's Day 5 &amp; 6</a:t>
            </a:r>
            <a:endParaRPr b="0" lang="en-US" sz="3400" spc="-1" strike="noStrike">
              <a:solidFill>
                <a:srgbClr val="ffffff"/>
              </a:solidFill>
              <a:latin typeface="Arial"/>
            </a:endParaRPr>
          </a:p>
        </p:txBody>
      </p:sp>
      <p:sp>
        <p:nvSpPr>
          <p:cNvPr id="75" name="TextBox 4"/>
          <p:cNvSpPr/>
          <p:nvPr/>
        </p:nvSpPr>
        <p:spPr>
          <a:xfrm>
            <a:off x="3342600" y="2194560"/>
            <a:ext cx="2456640" cy="3333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600" spc="-1" strike="noStrike">
                <a:solidFill>
                  <a:srgbClr val="8b9db3"/>
                </a:solidFill>
                <a:latin typeface="Calibri"/>
              </a:rPr>
              <a:t>See you in the next one.</a:t>
            </a:r>
            <a:endParaRPr b="0" lang="en-US" sz="1600" spc="-1" strike="noStrike">
              <a:solidFill>
                <a:srgbClr val="ffffff"/>
              </a:solidFill>
              <a:latin typeface="Arial"/>
            </a:endParaRPr>
          </a:p>
        </p:txBody>
      </p:sp>
      <p:sp>
        <p:nvSpPr>
          <p:cNvPr id="76" name="Rectangle 5"/>
          <p:cNvSpPr/>
          <p:nvPr/>
        </p:nvSpPr>
        <p:spPr>
          <a:xfrm>
            <a:off x="3200400" y="2880360"/>
            <a:ext cx="2741040" cy="1620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gn="ctr" defTabSz="457200">
              <a:lnSpc>
                <a:spcPct val="100000"/>
              </a:lnSpc>
            </a:pPr>
            <a:endParaRPr b="0" lang="en-US" sz="1800" spc="-1" strike="noStrike">
              <a:solidFill>
                <a:schemeClr val="lt1"/>
              </a:solidFill>
              <a:latin typeface="Calibri"/>
            </a:endParaRPr>
          </a:p>
        </p:txBody>
      </p:sp>
      <p:sp>
        <p:nvSpPr>
          <p:cNvPr id="77" name="TextBox 6"/>
          <p:cNvSpPr/>
          <p:nvPr/>
        </p:nvSpPr>
        <p:spPr>
          <a:xfrm>
            <a:off x="3738960" y="3154680"/>
            <a:ext cx="166608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4a9af5"/>
                </a:solidFill>
                <a:latin typeface="Consolas"/>
              </a:rPr>
              <a:t>mrmcmuffinz.dev</a:t>
            </a:r>
            <a:endParaRPr b="0" lang="en-US" sz="1300" spc="-1" strike="noStrike">
              <a:solidFill>
                <a:srgbClr val="ffffff"/>
              </a:solidFill>
              <a:latin typeface="Arial"/>
            </a:endParaRPr>
          </a:p>
        </p:txBody>
      </p:sp>
      <p:sp>
        <p:nvSpPr>
          <p:cNvPr id="78" name="TextBox 7"/>
          <p:cNvSpPr/>
          <p:nvPr/>
        </p:nvSpPr>
        <p:spPr>
          <a:xfrm>
            <a:off x="3612600" y="4663440"/>
            <a:ext cx="19170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pic>
        <p:nvPicPr>
          <p:cNvPr id="79" name="Picture 3" descr="image.png"/>
          <p:cNvPicPr/>
          <p:nvPr/>
        </p:nvPicPr>
        <p:blipFill>
          <a:blip r:embed="rId1"/>
          <a:stretch/>
        </p:blipFill>
        <p:spPr>
          <a:xfrm>
            <a:off x="0" y="3657600"/>
            <a:ext cx="1644120" cy="14608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1380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2026-04-14T22:29:25Z</dcterms:modified>
  <cp:revision>20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