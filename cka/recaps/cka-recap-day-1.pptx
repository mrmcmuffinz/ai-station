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</p:sldIdLst>
  <p:sldSz cx="9144000" cy="51435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1C23E4F-7207-42C7-8FD2-85CA6A6007D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5C34B2D3-2CDC-4043-AFC3-1CEC28D6A7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3E4BD7E5-E489-4324-A488-0E912F671DD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F5FC95A3-5273-49B8-94DD-816E5EC18A7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086C2287-D25B-47EB-AD34-205DA4D58DA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7"/>
          </p:nvPr>
        </p:nvSpPr>
        <p:spPr/>
        <p:txBody>
          <a:bodyPr/>
          <a:p>
            <a:fld id="{1BB5FBC7-75D9-43C2-AD25-EA8A188999E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0"/>
          </p:nvPr>
        </p:nvSpPr>
        <p:spPr/>
        <p:txBody>
          <a:bodyPr/>
          <a:p>
            <a:fld id="{D680BF8D-B790-43CD-98D4-0D39935DB3B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3"/>
          </p:nvPr>
        </p:nvSpPr>
        <p:spPr/>
        <p:txBody>
          <a:bodyPr/>
          <a:p>
            <a:fld id="{4FC3F14F-E6A4-43B1-9D84-63BFA99874C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6"/>
          </p:nvPr>
        </p:nvSpPr>
        <p:spPr/>
        <p:txBody>
          <a:bodyPr/>
          <a:p>
            <a:fld id="{DBDCC6C6-9622-4C2D-8F30-E07AF17E85E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9"/>
          </p:nvPr>
        </p:nvSpPr>
        <p:spPr/>
        <p:txBody>
          <a:bodyPr/>
          <a:p>
            <a:fld id="{15D9FF69-8121-4E4B-8C33-7D8F5386919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2"/>
          </p:nvPr>
        </p:nvSpPr>
        <p:spPr/>
        <p:txBody>
          <a:bodyPr/>
          <a:p>
            <a:fld id="{1B386222-3A33-4752-B59E-C352C3AF884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A789035-AFD4-47A5-90C9-BFFBDAD4FA9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DCB8ADF-F432-478A-8720-FC723BAD1BD2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ftr" idx="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sldNum" idx="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13CBB574-134A-4FD5-9C23-A7DC82AD455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dt" idx="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ftr" idx="1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sldNum" idx="1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BD8B046-D236-4216-9BE5-7DA1ED2C0F7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dt" idx="1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ftr" idx="1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ldNum" idx="1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8E04993F-1793-4C9B-8BC3-E186A0B3044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the title text </a:t>
            </a: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44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7222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F53D262-FAEE-44B8-8BC4-5B7F4C6671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6"/>
          <p:cNvSpPr>
            <a:spLocks noGrp="1"/>
          </p:cNvSpPr>
          <p:nvPr>
            <p:ph type="dt" idx="1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ftr" idx="1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sldNum" idx="2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DEB77E9-6830-4E2E-A465-972AA55ED70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dt" idx="2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ftr" idx="2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sldNum" idx="2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0F91621-3DF1-4074-BE1C-9BEFCEB4C5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2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ftr" idx="2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BCC0AED-5C91-490E-BA60-B6053CE4763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ftr" idx="2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2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C8624E-7B99-4D1B-A9F4-1754F3D4939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dt" idx="3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ftr" idx="3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ldNum" idx="3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DB8B76F-4906-4364-A16F-A0E66C07662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dt" idx="3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ectangle 1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51" name="Picture 2" descr="image.png"/>
          <p:cNvPicPr/>
          <p:nvPr/>
        </p:nvPicPr>
        <p:blipFill>
          <a:blip r:embed="rId1"/>
          <a:stretch/>
        </p:blipFill>
        <p:spPr>
          <a:xfrm>
            <a:off x="3200400" y="365760"/>
            <a:ext cx="2742480" cy="2742480"/>
          </a:xfrm>
          <a:prstGeom prst="rect">
            <a:avLst/>
          </a:prstGeom>
          <a:ln w="0">
            <a:noFill/>
          </a:ln>
        </p:spPr>
      </p:pic>
      <p:sp>
        <p:nvSpPr>
          <p:cNvPr id="52" name="TextBox 3"/>
          <p:cNvSpPr/>
          <p:nvPr/>
        </p:nvSpPr>
        <p:spPr>
          <a:xfrm>
            <a:off x="457200" y="3200400"/>
            <a:ext cx="8228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0f4f8"/>
                </a:solidFill>
                <a:latin typeface="Calibri"/>
              </a:rPr>
              <a:t>CKA Daily Recap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TextBox 4"/>
          <p:cNvSpPr/>
          <p:nvPr/>
        </p:nvSpPr>
        <p:spPr>
          <a:xfrm>
            <a:off x="3459960" y="3886200"/>
            <a:ext cx="222192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4a9af5"/>
                </a:solidFill>
                <a:latin typeface="Calibri"/>
              </a:rPr>
              <a:t>Day 1</a:t>
            </a:r>
            <a:r>
              <a:rPr b="0" lang="en-US" sz="1400" spc="-1" strike="noStrike">
                <a:solidFill>
                  <a:srgbClr val="8b9db3"/>
                </a:solidFill>
                <a:latin typeface="Calibri"/>
              </a:rPr>
              <a:t>   |   April 6, 2026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TextBox 5"/>
          <p:cNvSpPr/>
          <p:nvPr/>
        </p:nvSpPr>
        <p:spPr>
          <a:xfrm>
            <a:off x="3945600" y="4663440"/>
            <a:ext cx="1252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Abe's CKA Journey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4" descr="image.png"/>
          <p:cNvPicPr/>
          <p:nvPr/>
        </p:nvPicPr>
        <p:blipFill>
          <a:blip r:embed="rId1"/>
          <a:stretch/>
        </p:blipFill>
        <p:spPr>
          <a:xfrm>
            <a:off x="7498080" y="457200"/>
            <a:ext cx="1645560" cy="1462320"/>
          </a:xfrm>
          <a:prstGeom prst="rect">
            <a:avLst/>
          </a:prstGeom>
          <a:ln w="0">
            <a:noFill/>
          </a:ln>
        </p:spPr>
      </p:pic>
      <p:sp>
        <p:nvSpPr>
          <p:cNvPr id="56" name="Rectangle 3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7" name="TextBox 1"/>
          <p:cNvSpPr/>
          <p:nvPr/>
        </p:nvSpPr>
        <p:spPr>
          <a:xfrm>
            <a:off x="1029960" y="228600"/>
            <a:ext cx="865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a9af5"/>
                </a:solidFill>
                <a:latin typeface="Consolas"/>
              </a:rPr>
              <a:t>CKA STUDY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TextBox 2"/>
          <p:cNvSpPr/>
          <p:nvPr/>
        </p:nvSpPr>
        <p:spPr>
          <a:xfrm>
            <a:off x="6089040" y="182880"/>
            <a:ext cx="153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0f4f8"/>
                </a:solidFill>
                <a:latin typeface="Calibri"/>
              </a:rPr>
              <a:t>Day 1</a:t>
            </a: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  |  April 6, 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TextBox 9"/>
          <p:cNvSpPr/>
          <p:nvPr/>
        </p:nvSpPr>
        <p:spPr>
          <a:xfrm>
            <a:off x="548640" y="685800"/>
            <a:ext cx="7771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0f4f8"/>
                </a:solidFill>
                <a:latin typeface="Calibri"/>
              </a:rPr>
              <a:t>Udemy Course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 4"/>
          <p:cNvSpPr/>
          <p:nvPr/>
        </p:nvSpPr>
        <p:spPr>
          <a:xfrm>
            <a:off x="548640" y="1417320"/>
            <a:ext cx="3199680" cy="1764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1" name="TextBox 11"/>
          <p:cNvSpPr/>
          <p:nvPr/>
        </p:nvSpPr>
        <p:spPr>
          <a:xfrm>
            <a:off x="1875240" y="4709160"/>
            <a:ext cx="191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2" name="" descr=""/>
          <p:cNvPicPr/>
          <p:nvPr/>
        </p:nvPicPr>
        <p:blipFill>
          <a:blip r:embed="rId2"/>
          <a:stretch/>
        </p:blipFill>
        <p:spPr>
          <a:xfrm>
            <a:off x="1933200" y="1564200"/>
            <a:ext cx="5051160" cy="3108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1" descr="image.png"/>
          <p:cNvPicPr/>
          <p:nvPr/>
        </p:nvPicPr>
        <p:blipFill>
          <a:blip r:embed="rId1"/>
          <a:stretch/>
        </p:blipFill>
        <p:spPr>
          <a:xfrm>
            <a:off x="7498080" y="457200"/>
            <a:ext cx="1645560" cy="1462320"/>
          </a:xfrm>
          <a:prstGeom prst="rect">
            <a:avLst/>
          </a:prstGeom>
          <a:ln w="0">
            <a:noFill/>
          </a:ln>
        </p:spPr>
      </p:pic>
      <p:sp>
        <p:nvSpPr>
          <p:cNvPr id="64" name="Rectangle 2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1029960" y="228600"/>
            <a:ext cx="86508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000" spc="-1" strike="noStrike">
                <a:solidFill>
                  <a:srgbClr val="4a9af5"/>
                </a:solidFill>
                <a:latin typeface="Consolas"/>
              </a:rPr>
              <a:t>CKA STUDY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TextBox 4"/>
          <p:cNvSpPr/>
          <p:nvPr/>
        </p:nvSpPr>
        <p:spPr>
          <a:xfrm>
            <a:off x="6089040" y="182880"/>
            <a:ext cx="153720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r" defTabSz="457200">
              <a:lnSpc>
                <a:spcPct val="100000"/>
              </a:lnSpc>
            </a:pPr>
            <a:r>
              <a:rPr b="1" lang="en-US" sz="1200" spc="-1" strike="noStrike">
                <a:solidFill>
                  <a:srgbClr val="f0f4f8"/>
                </a:solidFill>
                <a:latin typeface="Calibri"/>
              </a:rPr>
              <a:t>Day 1</a:t>
            </a:r>
            <a:r>
              <a:rPr b="0" lang="en-US" sz="1000" spc="-1" strike="noStrike">
                <a:solidFill>
                  <a:srgbClr val="8b9db3"/>
                </a:solidFill>
                <a:latin typeface="Calibri"/>
              </a:rPr>
              <a:t>  |  April 6, 2026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Box 5"/>
          <p:cNvSpPr/>
          <p:nvPr/>
        </p:nvSpPr>
        <p:spPr>
          <a:xfrm>
            <a:off x="548640" y="685800"/>
            <a:ext cx="777168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f0f4f8"/>
                </a:solidFill>
                <a:latin typeface="Calibri"/>
              </a:rPr>
              <a:t>Cluster Architecture &amp; Control Plane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Rectangle 6"/>
          <p:cNvSpPr/>
          <p:nvPr/>
        </p:nvSpPr>
        <p:spPr>
          <a:xfrm>
            <a:off x="548640" y="1417320"/>
            <a:ext cx="3199680" cy="1764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7"/>
          <p:cNvSpPr/>
          <p:nvPr/>
        </p:nvSpPr>
        <p:spPr>
          <a:xfrm>
            <a:off x="548640" y="1645920"/>
            <a:ext cx="6857280" cy="283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What is Kubernetes (k8s)?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K8s is an open source platform designed to automate deploying, scaling and managing containerized applications.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What are the components that a k8s clusters are made up of?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Control Plane: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2" marL="648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0f4f8"/>
                </a:solidFill>
                <a:latin typeface="Calibri"/>
              </a:rPr>
              <a:t>API Server, etcd, Scheduler, Controller Manager.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Node/s: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2" marL="648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0f4f8"/>
                </a:solidFill>
                <a:latin typeface="Calibri"/>
              </a:rPr>
              <a:t>Kubelet, Kube Proxy, Container Runtime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0f4f8"/>
                </a:solidFill>
                <a:latin typeface="Calibri"/>
              </a:rPr>
              <a:t>What is a container runtime?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0f4f8"/>
                </a:solidFill>
                <a:latin typeface="Calibri"/>
              </a:rPr>
              <a:t>Specialized software resposible for the actual execution and management of containers.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0f4f8"/>
                </a:solidFill>
                <a:latin typeface="Calibri"/>
              </a:rPr>
              <a:t>What is etcd?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0f4f8"/>
                </a:solidFill>
                <a:latin typeface="Calibri"/>
              </a:rPr>
              <a:t>A distributed key-value store backing all cluster states.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ffffff"/>
                </a:solidFill>
                <a:latin typeface="Calibri"/>
              </a:rPr>
              <a:t>What is the API</a:t>
            </a:r>
            <a:r>
              <a:rPr b="0" lang="en-US" sz="1200" spc="-1" strike="noStrike">
                <a:solidFill>
                  <a:srgbClr val="f0f4f8"/>
                </a:solidFill>
                <a:latin typeface="Calibri"/>
              </a:rPr>
              <a:t> Server? 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lvl="1" marL="432000" indent="-216000" defTabSz="457200">
              <a:lnSpc>
                <a:spcPct val="100000"/>
              </a:lnSpc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f0f4f8"/>
                </a:solidFill>
                <a:latin typeface="Calibri"/>
              </a:rPr>
              <a:t>The single entry point for all cluster operations.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8"/>
          <p:cNvSpPr/>
          <p:nvPr/>
        </p:nvSpPr>
        <p:spPr>
          <a:xfrm>
            <a:off x="1875240" y="4709160"/>
            <a:ext cx="191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1"/>
          <p:cNvSpPr/>
          <p:nvPr/>
        </p:nvSpPr>
        <p:spPr>
          <a:xfrm>
            <a:off x="0" y="0"/>
            <a:ext cx="9143280" cy="5400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3180600" y="1371600"/>
            <a:ext cx="2782080" cy="60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3400" spc="-1" strike="noStrike">
                <a:solidFill>
                  <a:srgbClr val="f0f4f8"/>
                </a:solidFill>
                <a:latin typeface="Calibri"/>
              </a:rPr>
              <a:t>That's Day 1</a:t>
            </a:r>
            <a:endParaRPr b="0" lang="en-US" sz="3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3342600" y="2194560"/>
            <a:ext cx="24577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8b9db3"/>
                </a:solidFill>
                <a:latin typeface="Calibri"/>
              </a:rPr>
              <a:t>See you in the next one.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Rectangle 5"/>
          <p:cNvSpPr/>
          <p:nvPr/>
        </p:nvSpPr>
        <p:spPr>
          <a:xfrm>
            <a:off x="3200400" y="2880360"/>
            <a:ext cx="2742480" cy="17640"/>
          </a:xfrm>
          <a:prstGeom prst="rect">
            <a:avLst/>
          </a:prstGeom>
          <a:solidFill>
            <a:srgbClr val="326ce5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26640" bIns="-2664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3738240" y="3154680"/>
            <a:ext cx="1666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" spc="-1" strike="noStrike">
                <a:solidFill>
                  <a:srgbClr val="4a9af5"/>
                </a:solidFill>
                <a:latin typeface="Consolas"/>
              </a:rPr>
              <a:t>mrmcmuffinz.dev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TextBox 7"/>
          <p:cNvSpPr/>
          <p:nvPr/>
        </p:nvSpPr>
        <p:spPr>
          <a:xfrm>
            <a:off x="3612600" y="4663440"/>
            <a:ext cx="191808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900" spc="-1" strike="noStrike">
                <a:solidFill>
                  <a:srgbClr val="8b9db3"/>
                </a:solidFill>
                <a:latin typeface="Calibri"/>
              </a:rPr>
              <a:t>Abe's CKA Journey  ·  Daily Recap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Picture 3" descr="image.png"/>
          <p:cNvPicPr/>
          <p:nvPr/>
        </p:nvPicPr>
        <p:blipFill>
          <a:blip r:embed="rId1"/>
          <a:stretch/>
        </p:blipFill>
        <p:spPr>
          <a:xfrm>
            <a:off x="0" y="3657600"/>
            <a:ext cx="1645560" cy="1462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2026-04-06T16:11:39Z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