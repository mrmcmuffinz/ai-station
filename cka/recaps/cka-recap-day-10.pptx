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9BC2227-4C78-4B43-82ED-930DD0E8EF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BE6C42A-8A5D-40E8-B599-23881AC222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1C86CD1-4214-40AC-A598-6C6AA96495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EC2D1AE-5BBB-4EEB-B136-1F7C51476A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7404C38-2433-4AED-96D0-7E6CC441BF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B8F31141-EE27-4E5F-8182-77513E26E01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00B0BE9A-3017-4F3D-B94A-88FA567BE1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8F04D579-75E1-4D5A-B50B-6F5C4DE602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01E2229-A0F9-4FEA-8644-66F73D73FE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951E008B-3B39-41CE-874E-597125E2BB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F39887CE-EB2A-4E4A-AF1B-967DA980D2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6411625-A9FA-41BC-936F-95ECCEAD4E0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79252AD-96CE-4182-9549-6B65C26B4E7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3C17B7E-C359-4444-8E3F-69ED701244D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B90386D-0425-469E-AE13-F2300484EFC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3ACC0F1-0A1E-4204-9248-8850EBC7FE4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3D7056C-78E6-42E2-83C1-64EE15ADB13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752C79F-047A-4E99-998A-2EAC61040A9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41E4302-75BB-449D-895A-73D6B80F470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3CF4D77-4165-448A-93BF-9895BDA31C4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E70FD8B-227C-4C64-8A56-56293B55F83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224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DA7A5C7-0AA9-4B8C-A2D1-872BF960A52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048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9140760" cy="5148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1" name="Picture 2" descr="image.png"/>
          <p:cNvPicPr/>
          <p:nvPr/>
        </p:nvPicPr>
        <p:blipFill>
          <a:blip r:embed="rId1"/>
          <a:stretch/>
        </p:blipFill>
        <p:spPr>
          <a:xfrm>
            <a:off x="3200400" y="365760"/>
            <a:ext cx="2739960" cy="2739960"/>
          </a:xfrm>
          <a:prstGeom prst="rect">
            <a:avLst/>
          </a:prstGeom>
          <a:ln w="0">
            <a:noFill/>
          </a:ln>
        </p:spPr>
      </p:pic>
      <p:sp>
        <p:nvSpPr>
          <p:cNvPr id="52" name="TextBox 3"/>
          <p:cNvSpPr/>
          <p:nvPr/>
        </p:nvSpPr>
        <p:spPr>
          <a:xfrm>
            <a:off x="457200" y="3200400"/>
            <a:ext cx="82263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0f4f8"/>
                </a:solidFill>
                <a:latin typeface="Calibri"/>
              </a:rPr>
              <a:t>CKA Daily Recap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3198960" y="3886200"/>
            <a:ext cx="2746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4a9af5"/>
                </a:solidFill>
                <a:latin typeface="Calibri"/>
              </a:rPr>
              <a:t>Day 8 &amp; 9</a:t>
            </a:r>
            <a:r>
              <a:rPr b="0" lang="en-US" sz="1400" spc="-1" strike="noStrike">
                <a:solidFill>
                  <a:srgbClr val="8b9db3"/>
                </a:solidFill>
                <a:latin typeface="Calibri"/>
              </a:rPr>
              <a:t>   |   April 19,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Box 5"/>
          <p:cNvSpPr/>
          <p:nvPr/>
        </p:nvSpPr>
        <p:spPr>
          <a:xfrm>
            <a:off x="3945600" y="4663440"/>
            <a:ext cx="1251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b9db3"/>
                </a:solidFill>
                <a:latin typeface="Calibri"/>
              </a:rPr>
              <a:t>Abe's CKA Journey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4" descr="image.png"/>
          <p:cNvPicPr/>
          <p:nvPr/>
        </p:nvPicPr>
        <p:blipFill>
          <a:blip r:embed="rId1"/>
          <a:stretch/>
        </p:blipFill>
        <p:spPr>
          <a:xfrm>
            <a:off x="7498080" y="457200"/>
            <a:ext cx="1643040" cy="1459800"/>
          </a:xfrm>
          <a:prstGeom prst="rect">
            <a:avLst/>
          </a:prstGeom>
          <a:ln w="0">
            <a:noFill/>
          </a:ln>
        </p:spPr>
      </p:pic>
      <p:sp>
        <p:nvSpPr>
          <p:cNvPr id="56" name="Rectangle 7"/>
          <p:cNvSpPr/>
          <p:nvPr/>
        </p:nvSpPr>
        <p:spPr>
          <a:xfrm>
            <a:off x="0" y="0"/>
            <a:ext cx="9140760" cy="5148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" name="TextBox 14"/>
          <p:cNvSpPr/>
          <p:nvPr/>
        </p:nvSpPr>
        <p:spPr>
          <a:xfrm>
            <a:off x="1029960" y="228600"/>
            <a:ext cx="864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4a9af5"/>
                </a:solidFill>
                <a:latin typeface="Consolas"/>
              </a:rPr>
              <a:t>CKA STUDY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Box 15"/>
          <p:cNvSpPr/>
          <p:nvPr/>
        </p:nvSpPr>
        <p:spPr>
          <a:xfrm>
            <a:off x="6069600" y="182880"/>
            <a:ext cx="1575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0f4f8"/>
                </a:solidFill>
                <a:latin typeface="Calibri"/>
              </a:rPr>
              <a:t>Day 8</a:t>
            </a:r>
            <a:r>
              <a:rPr b="0" lang="en-US" sz="1000" spc="-1" strike="noStrike">
                <a:solidFill>
                  <a:srgbClr val="8b9db3"/>
                </a:solidFill>
                <a:latin typeface="Calibri"/>
              </a:rPr>
              <a:t> |  April 19, 2026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Box 16"/>
          <p:cNvSpPr/>
          <p:nvPr/>
        </p:nvSpPr>
        <p:spPr>
          <a:xfrm>
            <a:off x="548640" y="685800"/>
            <a:ext cx="77691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100" spc="-1" strike="noStrike">
                <a:solidFill>
                  <a:srgbClr val="f0f4f8"/>
                </a:solidFill>
                <a:latin typeface="Calibri"/>
              </a:rPr>
              <a:t>Kubernetes Security: Access and CRDs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Rectangle 8"/>
          <p:cNvSpPr/>
          <p:nvPr/>
        </p:nvSpPr>
        <p:spPr>
          <a:xfrm>
            <a:off x="548640" y="1201320"/>
            <a:ext cx="3197160" cy="1512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TextBox 17"/>
          <p:cNvSpPr/>
          <p:nvPr/>
        </p:nvSpPr>
        <p:spPr>
          <a:xfrm>
            <a:off x="548640" y="1645920"/>
            <a:ext cx="72216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Box 18"/>
          <p:cNvSpPr/>
          <p:nvPr/>
        </p:nvSpPr>
        <p:spPr>
          <a:xfrm>
            <a:off x="1875240" y="4709160"/>
            <a:ext cx="1917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db3"/>
                </a:solidFill>
                <a:latin typeface="Calibri"/>
              </a:rPr>
              <a:t>Abe's CKA Journey  ·  Daily Recap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Box 19"/>
          <p:cNvSpPr/>
          <p:nvPr/>
        </p:nvSpPr>
        <p:spPr>
          <a:xfrm>
            <a:off x="476640" y="1429920"/>
            <a:ext cx="7558560" cy="260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How does RBAC control access to cluster resources?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Roles define permitted verbs on resources within a namespace, and RoleBindings attach those Roles to users or groups.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ClusterRoles and ClusterRoleBindings work the same way but apply cluster-wide, covering non-namespaced resources like nodes and PVs.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What are Service Accounts, Security Contexts, and Network Policies?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Service Accounts provide pod-level identity for API access.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Security Contexts set privileges at the pod or container level (runAsUser, capabilities, read-only root filesystem).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Network Policies define ingress/egress rules that restrict traffic between pods using label selectors and port specifications.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How do CRDs, custom controllers, and operators extend Kubernetes?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A CRD registers a new resource type in the API.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A custom controller watches for changes to that resource and takes action.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An operator combines both, packaging domain-specific operational logic (install, upgrade, backup) into a controller that manages a CRD.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1" descr="image.png"/>
          <p:cNvPicPr/>
          <p:nvPr/>
        </p:nvPicPr>
        <p:blipFill>
          <a:blip r:embed="rId1"/>
          <a:stretch/>
        </p:blipFill>
        <p:spPr>
          <a:xfrm>
            <a:off x="7498080" y="457200"/>
            <a:ext cx="1643040" cy="1459800"/>
          </a:xfrm>
          <a:prstGeom prst="rect">
            <a:avLst/>
          </a:prstGeom>
          <a:ln w="0">
            <a:noFill/>
          </a:ln>
        </p:spPr>
      </p:pic>
      <p:sp>
        <p:nvSpPr>
          <p:cNvPr id="65" name="Rectangle 2"/>
          <p:cNvSpPr/>
          <p:nvPr/>
        </p:nvSpPr>
        <p:spPr>
          <a:xfrm>
            <a:off x="0" y="0"/>
            <a:ext cx="9140760" cy="5148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" name="TextBox 1"/>
          <p:cNvSpPr/>
          <p:nvPr/>
        </p:nvSpPr>
        <p:spPr>
          <a:xfrm>
            <a:off x="1029960" y="228600"/>
            <a:ext cx="864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4a9af5"/>
                </a:solidFill>
                <a:latin typeface="Consolas"/>
              </a:rPr>
              <a:t>CKA STUDY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6070320" y="182880"/>
            <a:ext cx="15742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0f4f8"/>
                </a:solidFill>
                <a:latin typeface="Calibri"/>
              </a:rPr>
              <a:t>Day 9</a:t>
            </a:r>
            <a:r>
              <a:rPr b="0" lang="en-US" sz="1000" spc="-1" strike="noStrike">
                <a:solidFill>
                  <a:srgbClr val="8b9db3"/>
                </a:solidFill>
                <a:latin typeface="Calibri"/>
              </a:rPr>
              <a:t> |  April 19, 2026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548640" y="685800"/>
            <a:ext cx="77691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100" spc="-1" strike="noStrike">
                <a:solidFill>
                  <a:srgbClr val="f0f4f8"/>
                </a:solidFill>
                <a:latin typeface="Calibri"/>
              </a:rPr>
              <a:t>Kubernetes Storage: CSI, PV, and PVC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548640" y="1201320"/>
            <a:ext cx="3197160" cy="1512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TextBox 9"/>
          <p:cNvSpPr/>
          <p:nvPr/>
        </p:nvSpPr>
        <p:spPr>
          <a:xfrm>
            <a:off x="548640" y="1645920"/>
            <a:ext cx="7221600" cy="4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1875240" y="4709160"/>
            <a:ext cx="1917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db3"/>
                </a:solidFill>
                <a:latin typeface="Calibri"/>
              </a:rPr>
              <a:t>Abe's CKA Journey  ·  Daily Recap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11"/>
          <p:cNvSpPr/>
          <p:nvPr/>
        </p:nvSpPr>
        <p:spPr>
          <a:xfrm>
            <a:off x="476640" y="1429920"/>
            <a:ext cx="7558560" cy="31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How does the Container Storage Interface (CSI) work?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CSI is a standard that lets any storage vendor write a driver that integrates with Kubernetes (and other orchestrators) without changing core Kubernetes code. It replaced the older in-tree volume plugin model.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What is the relationship between Volumes, Persistent Volumes, and Persistent Volume Claims?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A Volume is defined directly in a pod spec and lives only as long as the pod.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A PersistentVolume (PV) is a cluster-level storage resource provisioned by an admin.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A PersistentVolumeClaim (PVC) is a user's request that binds to a matching PV based on capacity, access modes, and storage class.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How do Storage Classes enable dynamic provisioning?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A StorageClass defines a provisioner and its parameters. When a PVC references a StorageClass, Kubernetes automatically creates the PV on demand instead of requiring an admin to pre-provision it. Setting a default StorageClass means PVCs without an explicit class still get dynamically provisioned.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What access modes and reclaim policies apply to persistent storage?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Access modes are ReadWriteOnce (single node), ReadOnlyMany (multiple nodes, read-only), and ReadWriteMany (multiple nodes, read-write).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Reclaim policies determine what happens when a PVC is deleted: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2" marL="648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Retain keeps the PV and its data.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lvl="2" marL="648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</a:rPr>
              <a:t>Delete removes both.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9140760" cy="5148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2784600" y="1371600"/>
            <a:ext cx="357516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0f4f8"/>
                </a:solidFill>
                <a:latin typeface="Calibri"/>
              </a:rPr>
              <a:t>That's Day 8 &amp; 9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3342600" y="2194560"/>
            <a:ext cx="2456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8b9db3"/>
                </a:solidFill>
                <a:latin typeface="Calibri"/>
              </a:rPr>
              <a:t>See you in the next one.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Rectangle 5"/>
          <p:cNvSpPr/>
          <p:nvPr/>
        </p:nvSpPr>
        <p:spPr>
          <a:xfrm>
            <a:off x="3200400" y="2880360"/>
            <a:ext cx="2739960" cy="1512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6"/>
          <p:cNvSpPr/>
          <p:nvPr/>
        </p:nvSpPr>
        <p:spPr>
          <a:xfrm>
            <a:off x="3738960" y="3154680"/>
            <a:ext cx="16657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4a9af5"/>
                </a:solidFill>
                <a:latin typeface="Consolas"/>
              </a:rPr>
              <a:t>mrmcmuffinz.dev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3612600" y="4663440"/>
            <a:ext cx="19170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db3"/>
                </a:solidFill>
                <a:latin typeface="Calibri"/>
              </a:rPr>
              <a:t>Abe's CKA Journey  ·  Daily Recap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9" name="Picture 3" descr="image.png"/>
          <p:cNvPicPr/>
          <p:nvPr/>
        </p:nvPicPr>
        <p:blipFill>
          <a:blip r:embed="rId1"/>
          <a:stretch/>
        </p:blipFill>
        <p:spPr>
          <a:xfrm>
            <a:off x="0" y="3657600"/>
            <a:ext cx="1643040" cy="145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1503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2026-04-20T11:19:27Z</dcterms:modified>
  <cp:revision>29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